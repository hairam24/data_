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handoutMasterIdLst>
    <p:handoutMasterId r:id="rId17"/>
  </p:handoutMasterIdLst>
  <p:sldIdLst>
    <p:sldId id="256" r:id="rId6"/>
    <p:sldId id="275" r:id="rId7"/>
    <p:sldId id="272" r:id="rId8"/>
    <p:sldId id="261" r:id="rId9"/>
    <p:sldId id="266" r:id="rId10"/>
    <p:sldId id="269" r:id="rId11"/>
    <p:sldId id="270" r:id="rId12"/>
    <p:sldId id="271" r:id="rId13"/>
    <p:sldId id="273" r:id="rId14"/>
    <p:sldId id="274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80"/>
    <a:srgbClr val="FFDF7D"/>
    <a:srgbClr val="66B3E4"/>
    <a:srgbClr val="ECECEC"/>
    <a:srgbClr val="7FA3BF"/>
    <a:srgbClr val="595959"/>
    <a:srgbClr val="F9F0E0"/>
    <a:srgbClr val="F2F7FA"/>
    <a:srgbClr val="E7E2CA"/>
    <a:srgbClr val="E1EB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37" autoAdjust="0"/>
    <p:restoredTop sz="94660"/>
  </p:normalViewPr>
  <p:slideViewPr>
    <p:cSldViewPr snapToGrid="0">
      <p:cViewPr>
        <p:scale>
          <a:sx n="75" d="100"/>
          <a:sy n="75" d="100"/>
        </p:scale>
        <p:origin x="845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412D67-2B4E-9F55-6EDC-F2256BD021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668C3D-E520-C942-CFB7-27E263C06F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296E7-6EEA-4CEF-8F27-97AAB1939405}" type="datetimeFigureOut">
              <a:rPr lang="en-US" smtClean="0"/>
              <a:t>6/30/2025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DE418-482A-7A43-F10A-2705951C1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D5FD8-B708-FF93-D8FD-7A2F3AD618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EA95-EEDE-466E-B94C-8B572EEF9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948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0EA10B1E-4FA2-D72F-F444-DB648FFEBB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2" t="1147" b="4270"/>
          <a:stretch/>
        </p:blipFill>
        <p:spPr>
          <a:xfrm>
            <a:off x="-28124" y="0"/>
            <a:ext cx="12220123" cy="68580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F6931615-3EFD-406D-8CAB-500F498BBC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9891" y="3006522"/>
            <a:ext cx="8937171" cy="1421928"/>
          </a:xfrm>
          <a:noFill/>
        </p:spPr>
        <p:txBody>
          <a:bodyPr wrap="square" rtlCol="0">
            <a:spAutoFit/>
          </a:bodyPr>
          <a:lstStyle>
            <a:lvl1pPr>
              <a:defRPr lang="en-US" sz="4800" b="1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pPr marL="0"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51413D66-879B-990C-642E-1E1E0D8F30F0}"/>
              </a:ext>
            </a:extLst>
          </p:cNvPr>
          <p:cNvSpPr txBox="1">
            <a:spLocks/>
          </p:cNvSpPr>
          <p:nvPr userDrawn="1"/>
        </p:nvSpPr>
        <p:spPr>
          <a:xfrm>
            <a:off x="1089891" y="4473456"/>
            <a:ext cx="8937171" cy="43858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r>
              <a:rPr lang="en-US" sz="2500" dirty="0"/>
              <a:t>Click to edit Master 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EFC81-BEEE-352B-0244-DD36B67B80C9}"/>
              </a:ext>
            </a:extLst>
          </p:cNvPr>
          <p:cNvSpPr txBox="1">
            <a:spLocks/>
          </p:cNvSpPr>
          <p:nvPr userDrawn="1"/>
        </p:nvSpPr>
        <p:spPr>
          <a:xfrm>
            <a:off x="1089890" y="5263013"/>
            <a:ext cx="8937171" cy="58753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bg1"/>
                </a:solidFill>
                <a:latin typeface="Frutiger 45 Light" pitchFamily="2" charset="0"/>
                <a:ea typeface="Frutiger 45 Light" pitchFamily="2" charset="0"/>
                <a:cs typeface="Calibri" panose="020F0502020204030204" pitchFamily="34" charset="0"/>
              </a:defRPr>
            </a:lvl1pPr>
          </a:lstStyle>
          <a:p>
            <a:pPr>
              <a:lnSpc>
                <a:spcPts val="2000"/>
              </a:lnSpc>
            </a:pPr>
            <a:r>
              <a:rPr lang="en-US" sz="1400" b="1" dirty="0"/>
              <a:t>Presenter Name</a:t>
            </a:r>
          </a:p>
          <a:p>
            <a:pPr>
              <a:lnSpc>
                <a:spcPts val="2000"/>
              </a:lnSpc>
            </a:pPr>
            <a:r>
              <a:rPr lang="en-US" sz="1400" b="0" dirty="0"/>
              <a:t>Month, 20XX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A4A541-3236-7C7A-108F-C328E38F39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934" y="323988"/>
            <a:ext cx="2323604" cy="66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85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9B01B99F-2CE5-433C-8F7A-483D41C4A9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2" name="Picture 21" descr="Background pattern&#10;&#10;Description automatically generated">
            <a:extLst>
              <a:ext uri="{FF2B5EF4-FFF2-40B4-BE49-F238E27FC236}">
                <a16:creationId xmlns:a16="http://schemas.microsoft.com/office/drawing/2014/main" id="{27D409DF-402A-DD18-BFCE-8888573143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23" name="Marcador de número de diapositiva 5">
            <a:extLst>
              <a:ext uri="{FF2B5EF4-FFF2-40B4-BE49-F238E27FC236}">
                <a16:creationId xmlns:a16="http://schemas.microsoft.com/office/drawing/2014/main" id="{B982187F-CBBE-F09C-0F6F-730E0F0B124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5456A7-BE66-D18D-4755-5BE1D37DDEF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400" y="1822450"/>
            <a:ext cx="11125200" cy="4351338"/>
          </a:xfrm>
        </p:spPr>
        <p:txBody>
          <a:bodyPr>
            <a:normAutofit/>
          </a:bodyPr>
          <a:lstStyle>
            <a:lvl1pPr>
              <a:defRPr lang="en-US" sz="12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12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2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2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2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235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32" userDrawn="1">
          <p15:clr>
            <a:srgbClr val="FBAE40"/>
          </p15:clr>
        </p15:guide>
        <p15:guide id="2" pos="336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pos="734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1"/>
          <a:lstStyle>
            <a:lvl1pPr>
              <a:lnSpc>
                <a:spcPts val="1700"/>
              </a:lnSpc>
              <a:defRPr lang="en-US" sz="2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438F9EE4-1525-DA32-B6BF-F9D4E4DA0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E9EC46A4-50CA-5032-642E-472F2C66E949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865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2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BAEB0E49-39B0-037C-0357-6C4472DC15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E4B298F-D75D-0E89-ED3D-DF0CF1A87E27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657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F6D7890-7A93-4CCD-A699-B1D9038F32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398" y="1497012"/>
            <a:ext cx="11125199" cy="2978005"/>
          </a:xfrm>
        </p:spPr>
        <p:txBody>
          <a:bodyPr numCol="3">
            <a:normAutofit/>
          </a:bodyPr>
          <a:lstStyle>
            <a:lvl1pPr>
              <a:lnSpc>
                <a:spcPts val="1700"/>
              </a:lnSpc>
              <a:defRPr lang="en-US" sz="14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42900" indent="-342900">
              <a:lnSpc>
                <a:spcPts val="1700"/>
              </a:lnSpc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8325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4pPr>
            <a:lvl5pPr marL="914400" indent="-228600">
              <a:lnSpc>
                <a:spcPts val="1700"/>
              </a:lnSpc>
              <a:buClr>
                <a:schemeClr val="tx2">
                  <a:lumMod val="50000"/>
                </a:schemeClr>
              </a:buClr>
              <a:buFont typeface="Symbol" panose="05050102010706020507" pitchFamily="18" charset="2"/>
              <a:buChar char="-"/>
              <a:defRPr sz="1400">
                <a:latin typeface="+mn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4C9993D-5B34-D7A9-0B1C-5708E2ECAE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07F8B13B-8E7C-F321-BF83-177D747B1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4BB16B3F-018F-71E7-B239-96DA6F36DEB4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452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F55D43F-875F-4E2B-82B9-5EEDDAEA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989299"/>
            <a:ext cx="8610601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rgbClr val="595959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18B4745-7445-43DB-B108-3CDCB28A7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3869024"/>
            <a:ext cx="8610602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595959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A424433-CA37-48A1-EF7E-E44DEC8944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7B593DD1-E696-84F5-997E-395CB4B340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179C2830-1743-9FEA-4F66-BCE7925B9DB5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886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A6A7051-5A82-D471-602E-39E158F6B1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81628252-EFFE-45BA-BB6B-80B43271D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3242" y="1508588"/>
            <a:ext cx="5864980" cy="2852737"/>
          </a:xfrm>
        </p:spPr>
        <p:txBody>
          <a:bodyPr anchor="b">
            <a:normAutofit/>
          </a:bodyPr>
          <a:lstStyle>
            <a:lvl1pPr>
              <a:defRPr lang="en-US" sz="44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994D909-A7BC-465C-8A9B-65471E73F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93242" y="4388313"/>
            <a:ext cx="586498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921F3B-DFDD-3880-4A59-92315D909E94}"/>
              </a:ext>
            </a:extLst>
          </p:cNvPr>
          <p:cNvSpPr txBox="1"/>
          <p:nvPr userDrawn="1"/>
        </p:nvSpPr>
        <p:spPr>
          <a:xfrm>
            <a:off x="3048000" y="6425185"/>
            <a:ext cx="6096000" cy="24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©</a:t>
            </a:r>
            <a:r>
              <a:rPr lang="en-US" sz="1000" dirty="0" err="1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LTIMindtree</a:t>
            </a:r>
            <a:r>
              <a:rPr lang="en-US" sz="1000" dirty="0">
                <a:solidFill>
                  <a:schemeClr val="bg2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 | Privileged and Confidential 2022</a:t>
            </a:r>
            <a:endParaRPr lang="en-IN" sz="1000" dirty="0">
              <a:solidFill>
                <a:schemeClr val="bg2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27DD45-CE2E-85E8-642D-93DED37DD3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228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D9C106-CE49-4F1B-A6DE-3C9818CAFB5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1655302"/>
            <a:ext cx="5486399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E8BB916-CDFC-439C-B0EF-513AE7B06AC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172201" y="1655302"/>
            <a:ext cx="5486398" cy="4351338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78651CBE-E342-762C-71AB-7A346C0BD1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0D37EA21-4965-A1A5-EFE5-F1DB9D9A98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CACE2F8E-F80A-F347-8E9C-243A79D7388E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278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04641-62E4-4217-A4FB-1461DCB34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436914"/>
            <a:ext cx="5533119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F8DFE-7699-41E5-ACEB-81719A7EB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1141" y="1436914"/>
            <a:ext cx="5417458" cy="1068161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1" kern="1200" dirty="0">
                <a:solidFill>
                  <a:srgbClr val="595959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54FF91B-5FE4-409D-BA7F-37376CD5E4A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33399" y="2651506"/>
            <a:ext cx="5533119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FDB344D-832A-4E14-93A2-EF0879A2EDA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41141" y="2663457"/>
            <a:ext cx="5417458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EF8A07F5-F0F3-56A0-B462-8A048CE694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4DD8A8A8-2642-F3FA-DCC7-296A6B23D3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0A8FC8DD-D1CD-B223-1096-CE2AAC973F8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92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76CF0EE8-1D27-DB0B-D74F-2627C320CB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3CBCC0C3-A39C-312F-C0F0-B965E11FFDA0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0E2AFA92-4A8A-D692-CB16-A5351C9E57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62"/>
            <a:ext cx="5760164" cy="4106844"/>
          </a:xfrm>
          <a:prstGeom prst="rect">
            <a:avLst/>
          </a:prstGeom>
        </p:spPr>
      </p:pic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773A9ED4-9BDF-42B0-B98D-5F105B1AC1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6042" y="961005"/>
            <a:ext cx="8911647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dirty="0">
                <a:solidFill>
                  <a:srgbClr val="595959"/>
                </a:solidFill>
                <a:latin typeface="+mj-lt"/>
              </a:defRPr>
            </a:lvl1pPr>
          </a:lstStyle>
          <a:p>
            <a:pPr marL="0" lvl="0" indent="0"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B90635A-C270-48A0-A1B0-C1B896E998A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663792" y="1712849"/>
            <a:ext cx="8864415" cy="3432302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 marL="114300" indent="-342900">
              <a:buFont typeface="Wingdings" pitchFamily="2" charset="2"/>
              <a:buChar char="§"/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 marL="1085850" indent="-285750">
              <a:buFont typeface="Wingdings" pitchFamily="2" charset="2"/>
              <a:buChar char="§"/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 marL="1600200" indent="-285750">
              <a:buFont typeface="Wingdings" pitchFamily="2" charset="2"/>
              <a:buChar char="§"/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buFont typeface="Wingdings" pitchFamily="2" charset="2"/>
              <a:buChar char="§"/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Click to edit Master text styles</a:t>
            </a:r>
          </a:p>
          <a:p>
            <a:pPr marL="228600" lvl="1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Second level</a:t>
            </a:r>
          </a:p>
          <a:p>
            <a:pPr marL="228600" lvl="2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Third level</a:t>
            </a:r>
          </a:p>
          <a:p>
            <a:pPr marL="228600" lvl="3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Fourth level</a:t>
            </a:r>
          </a:p>
          <a:p>
            <a:pPr marL="228600" lvl="4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68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15C7D-CC90-4232-9BFD-B2B1B29D3D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163411"/>
            <a:ext cx="10515600" cy="1325563"/>
          </a:xfrm>
        </p:spPr>
        <p:txBody>
          <a:bodyPr>
            <a:normAutofit/>
          </a:bodyPr>
          <a:lstStyle>
            <a:lvl1pPr>
              <a:defRPr lang="en-US" sz="2800" b="1" kern="1200" dirty="0">
                <a:solidFill>
                  <a:srgbClr val="595959"/>
                </a:solidFill>
                <a:latin typeface="Frutiger 45 Light" pitchFamily="2" charset="0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Headline goes here</a:t>
            </a:r>
            <a:br>
              <a:rPr lang="en-US" dirty="0"/>
            </a:br>
            <a:r>
              <a:rPr lang="en-US" dirty="0"/>
              <a:t>Headline goes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252767-4743-47D6-B4D1-07FC2385DD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2815546"/>
            <a:ext cx="10515600" cy="27432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1611A3D-47D0-3647-0CCE-0CB7D32E60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763F4705-5885-9139-7C1E-5E2F720F77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9314451A-6C5B-D5A1-9DD9-55A1359B67FC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551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6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CDA55D2-453F-4E7D-AF30-1542DF26E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1469E54-C50A-4DB5-B104-9B9988317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8A5CEA-5F4E-4109-ACB7-808AE0D5B1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5306569" y="2055542"/>
            <a:ext cx="5181599" cy="3813445"/>
          </a:xfrm>
        </p:spPr>
        <p:txBody>
          <a:bodyPr/>
          <a:lstStyle>
            <a:lvl1pPr>
              <a:defRPr lang="en-US" sz="2400" b="1" dirty="0" smtClean="0">
                <a:solidFill>
                  <a:srgbClr val="595959"/>
                </a:solidFill>
                <a:latin typeface="Frutiger 45 Light" pitchFamily="2" charset="0"/>
              </a:defRPr>
            </a:lvl1pPr>
            <a:lvl2pPr>
              <a:defRPr sz="2000">
                <a:solidFill>
                  <a:srgbClr val="595959"/>
                </a:solidFill>
                <a:latin typeface="Frutiger 45 Light" pitchFamily="2" charset="0"/>
              </a:defRPr>
            </a:lvl2pPr>
            <a:lvl3pPr>
              <a:defRPr sz="1800">
                <a:solidFill>
                  <a:srgbClr val="595959"/>
                </a:solidFill>
                <a:latin typeface="Frutiger 45 Light" pitchFamily="2" charset="0"/>
              </a:defRPr>
            </a:lvl3pPr>
            <a:lvl4pPr>
              <a:defRPr sz="1400">
                <a:solidFill>
                  <a:srgbClr val="595959"/>
                </a:solidFill>
                <a:latin typeface="Frutiger 45 Light" pitchFamily="2" charset="0"/>
              </a:defRPr>
            </a:lvl4pPr>
            <a:lvl5pPr>
              <a:defRPr sz="1400">
                <a:solidFill>
                  <a:srgbClr val="595959"/>
                </a:solidFill>
                <a:latin typeface="Frutiger 45 Light" pitchFamily="2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  <a:p>
            <a:pPr marL="0" lvl="1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Second level</a:t>
            </a:r>
          </a:p>
          <a:p>
            <a:pPr marL="0" lvl="2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Third level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7916254B-43C5-9C82-7FF6-BC881992F7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32BAEA48-FEC5-7F2A-1732-CFFB91C99D6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795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B7F8B00-12EF-4751-A034-D733BB7D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57200"/>
            <a:ext cx="4293054" cy="16002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5B0E1B6-489C-4643-9FE5-9D4A936A7B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0"/>
            <a:ext cx="7008812" cy="6857999"/>
          </a:xfrm>
        </p:spPr>
        <p:txBody>
          <a:bodyPr/>
          <a:lstStyle>
            <a:lvl1pPr marL="0" indent="0">
              <a:buNone/>
              <a:defRPr sz="32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70DA0CC-8337-43E8-B632-01AC9639E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8972" y="2057400"/>
            <a:ext cx="4293054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B70154DA-9096-81F4-B455-E3499A1BD4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3D440A3F-6F49-A806-CA5F-776CACB1FDFB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85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1379A390-F031-B6A4-9699-D7473C2034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BA5E112F-F5E3-1239-9356-9397EE4D0862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726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63948A3-32FA-5533-16DA-635E26595B61}"/>
              </a:ext>
            </a:extLst>
          </p:cNvPr>
          <p:cNvSpPr/>
          <p:nvPr userDrawn="1"/>
        </p:nvSpPr>
        <p:spPr>
          <a:xfrm flipV="1">
            <a:off x="335168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47ABFF-7AC4-BAD1-41A4-E1FE5B8092EF}"/>
              </a:ext>
            </a:extLst>
          </p:cNvPr>
          <p:cNvSpPr/>
          <p:nvPr userDrawn="1"/>
        </p:nvSpPr>
        <p:spPr>
          <a:xfrm flipV="1">
            <a:off x="53327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963FEE-DF85-5D77-1E01-49124A2CEAF5}"/>
              </a:ext>
            </a:extLst>
          </p:cNvPr>
          <p:cNvSpPr/>
          <p:nvPr userDrawn="1"/>
        </p:nvSpPr>
        <p:spPr>
          <a:xfrm flipV="1">
            <a:off x="6170092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653896-D7CD-93EE-8417-E2C2E847A910}"/>
              </a:ext>
            </a:extLst>
          </p:cNvPr>
          <p:cNvSpPr/>
          <p:nvPr userDrawn="1"/>
        </p:nvSpPr>
        <p:spPr>
          <a:xfrm flipV="1">
            <a:off x="8988503" y="1567022"/>
            <a:ext cx="2466609" cy="3840464"/>
          </a:xfrm>
          <a:prstGeom prst="rect">
            <a:avLst/>
          </a:prstGeom>
          <a:gradFill flip="none" rotWithShape="1">
            <a:gsLst>
              <a:gs pos="0">
                <a:srgbClr val="F2F7FA"/>
              </a:gs>
              <a:gs pos="100000">
                <a:srgbClr val="F9F0E0"/>
              </a:gs>
            </a:gsLst>
            <a:lin ang="2700000" scaled="1"/>
            <a:tileRect/>
          </a:gra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srgbClr val="003865"/>
              </a:solidFill>
              <a:effectLst/>
              <a:uLnTx/>
              <a:uFillTx/>
            </a:endParaRP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12ACBE6E-5DAE-5B6C-1E92-11C9C662339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6182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7" name="Picture Placeholder 25">
            <a:extLst>
              <a:ext uri="{FF2B5EF4-FFF2-40B4-BE49-F238E27FC236}">
                <a16:creationId xmlns:a16="http://schemas.microsoft.com/office/drawing/2014/main" id="{15DCB66B-4DA5-68F3-EAAE-A7B0A4F3B1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8023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8" name="Picture Placeholder 25">
            <a:extLst>
              <a:ext uri="{FF2B5EF4-FFF2-40B4-BE49-F238E27FC236}">
                <a16:creationId xmlns:a16="http://schemas.microsoft.com/office/drawing/2014/main" id="{416EDE06-9533-67FB-BF24-DF6C76E3E62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998649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9" name="Picture Placeholder 25">
            <a:extLst>
              <a:ext uri="{FF2B5EF4-FFF2-40B4-BE49-F238E27FC236}">
                <a16:creationId xmlns:a16="http://schemas.microsoft.com/office/drawing/2014/main" id="{690D0B6E-A10C-4C7A-3858-68AF26206F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817060" y="1964039"/>
            <a:ext cx="809494" cy="809495"/>
          </a:xfrm>
          <a:prstGeom prst="ellipse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1800"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7A05C422-6C2D-D524-06F6-FEBC6355E17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423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3B1E9743-4863-A723-9C60-5FC5D3DBEA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5264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CD805F55-EF87-C927-683C-402E3B4349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71054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9318E5AB-5357-32EC-1C6F-7497D78CAE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89465" y="3968221"/>
            <a:ext cx="2264685" cy="1173194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48394A-EAF3-AA74-A443-B84109539DEE}"/>
              </a:ext>
            </a:extLst>
          </p:cNvPr>
          <p:cNvSpPr/>
          <p:nvPr userDrawn="1"/>
        </p:nvSpPr>
        <p:spPr>
          <a:xfrm>
            <a:off x="123278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215128-DC01-82B5-FF95-CD17B9ACB12C}"/>
              </a:ext>
            </a:extLst>
          </p:cNvPr>
          <p:cNvSpPr/>
          <p:nvPr userDrawn="1"/>
        </p:nvSpPr>
        <p:spPr>
          <a:xfrm>
            <a:off x="405119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E91DFC-E616-7C47-DF0B-7E06270BF99C}"/>
              </a:ext>
            </a:extLst>
          </p:cNvPr>
          <p:cNvSpPr/>
          <p:nvPr userDrawn="1"/>
        </p:nvSpPr>
        <p:spPr>
          <a:xfrm>
            <a:off x="6869606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A168DF-9E56-0C0D-7485-F28F78F2D2C0}"/>
              </a:ext>
            </a:extLst>
          </p:cNvPr>
          <p:cNvSpPr/>
          <p:nvPr userDrawn="1"/>
        </p:nvSpPr>
        <p:spPr>
          <a:xfrm>
            <a:off x="9688017" y="2984386"/>
            <a:ext cx="1067580" cy="37784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FB3665BC-C3D4-CE79-80F3-7F34FA3ECD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234" y="3298206"/>
            <a:ext cx="2264685" cy="42556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bold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E06ACF8C-308D-25A7-590F-09AAE35138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52644" y="3298206"/>
            <a:ext cx="2264685" cy="331936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403A7C49-0A7D-6B23-80B7-E91B87827A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1054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9F247137-B811-1C0C-3ECF-8920F2723A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89465" y="3298206"/>
            <a:ext cx="2264685" cy="33027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  <a:latin typeface="Frutiger 45 Light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EE57E6F6-95E1-BB44-5A8A-95D03F02DC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3399" y="469835"/>
            <a:ext cx="11125200" cy="43497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6B00E7C7-88E6-A7F9-7356-C605C6E380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813091" y="5882639"/>
            <a:ext cx="1388513" cy="989973"/>
          </a:xfrm>
          <a:prstGeom prst="rect">
            <a:avLst/>
          </a:prstGeom>
        </p:spPr>
      </p:pic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3BA9357F-11E9-B623-DB32-AA16F0336D11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smtClean="0">
                <a:solidFill>
                  <a:srgbClr val="00001E"/>
                </a:solidFill>
                <a:latin typeface="Frutiger 45 Light" pitchFamily="2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dirty="0">
              <a:solidFill>
                <a:srgbClr val="00001E"/>
              </a:solidFill>
              <a:latin typeface="Frutiger 45 Light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563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6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blur&#10;&#10;Description automatically generated">
            <a:extLst>
              <a:ext uri="{FF2B5EF4-FFF2-40B4-BE49-F238E27FC236}">
                <a16:creationId xmlns:a16="http://schemas.microsoft.com/office/drawing/2014/main" id="{EF438032-1F77-BBEA-C7C7-8ED95C652F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6EEB829-6CD0-4395-A39D-7E253A77EA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82435" y="2765913"/>
            <a:ext cx="3601189" cy="132617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4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Thank you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A4C7068-0752-FBFE-5D91-4C5EF463A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82435" y="4233333"/>
            <a:ext cx="4293054" cy="664810"/>
          </a:xfrm>
        </p:spPr>
        <p:txBody>
          <a:bodyPr/>
          <a:lstStyle>
            <a:lvl1pPr marL="0" indent="0">
              <a:buNone/>
              <a:defRPr sz="1600">
                <a:solidFill>
                  <a:srgbClr val="595959"/>
                </a:solidFill>
                <a:latin typeface="Frutiger 45 Light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FA6A43-0AD4-BED3-13C7-0AF5B9BB3FF3}"/>
              </a:ext>
            </a:extLst>
          </p:cNvPr>
          <p:cNvSpPr txBox="1"/>
          <p:nvPr userDrawn="1"/>
        </p:nvSpPr>
        <p:spPr>
          <a:xfrm>
            <a:off x="3048000" y="6423303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0" i="0" spc="50" baseline="0" dirty="0" err="1">
                <a:solidFill>
                  <a:srgbClr val="595959"/>
                </a:solidFill>
                <a:effectLst/>
                <a:latin typeface="Frutiger 45 Light" pitchFamily="2" charset="0"/>
              </a:rPr>
              <a:t>LTIMindtree</a:t>
            </a:r>
            <a:r>
              <a:rPr lang="en-US" sz="1000" b="0" i="0" spc="50" baseline="0" dirty="0">
                <a:solidFill>
                  <a:srgbClr val="595959"/>
                </a:solidFill>
                <a:effectLst/>
                <a:latin typeface="Frutiger 45 Light" pitchFamily="2" charset="0"/>
              </a:rPr>
              <a:t> Limited is a subsidiary of Larsen &amp; Toubro Limited</a:t>
            </a:r>
            <a:endParaRPr lang="en-US" sz="1000" b="0" kern="1200" spc="50" baseline="0" dirty="0">
              <a:solidFill>
                <a:srgbClr val="595959"/>
              </a:solidFill>
              <a:latin typeface="Frutiger 45 Light" pitchFamily="2" charset="0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C452BF-B975-E66F-DD59-26D7F10461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6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3685D-D505-42E6-B2A3-1B26BC793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65125"/>
            <a:ext cx="108857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0300D-8B9D-444F-97B8-8F7D7E3A3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825625"/>
            <a:ext cx="108857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EDB723-1905-4E83-9D47-D0B5CFAA7945}"/>
              </a:ext>
            </a:extLst>
          </p:cNvPr>
          <p:cNvSpPr txBox="1"/>
          <p:nvPr userDrawn="1"/>
        </p:nvSpPr>
        <p:spPr>
          <a:xfrm>
            <a:off x="3048000" y="6425185"/>
            <a:ext cx="6096000" cy="248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000" dirty="0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©</a:t>
            </a:r>
            <a:r>
              <a:rPr lang="en-US" sz="1000" dirty="0" err="1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LTIMindtree</a:t>
            </a:r>
            <a:r>
              <a:rPr lang="en-US" sz="1000" dirty="0">
                <a:solidFill>
                  <a:srgbClr val="97A0A4"/>
                </a:solidFill>
                <a:effectLst/>
                <a:latin typeface="Frutiger LT Pro 45 Light" panose="020B0403030504020204" pitchFamily="34" charset="77"/>
                <a:ea typeface="Frutiger LT Pro 45 Light" panose="020B0403030504020204" pitchFamily="34" charset="77"/>
                <a:cs typeface="Calibri" panose="020F0502020204030204" pitchFamily="34" charset="0"/>
              </a:rPr>
              <a:t> | Privileged and Confidential 2022</a:t>
            </a:r>
            <a:endParaRPr lang="en-IN" sz="1000" dirty="0">
              <a:solidFill>
                <a:srgbClr val="595959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4E6E1E-7055-8D1B-4C37-9DCF88F2180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 Box 1073742684">
            <a:extLst>
              <a:ext uri="{FF2B5EF4-FFF2-40B4-BE49-F238E27FC236}">
                <a16:creationId xmlns:a16="http://schemas.microsoft.com/office/drawing/2014/main" id="{CB09C83E-2E41-0B4B-7535-36A14EDE4624}"/>
              </a:ext>
            </a:extLst>
          </p:cNvPr>
          <p:cNvSpPr txBox="1"/>
          <p:nvPr userDrawn="1"/>
        </p:nvSpPr>
        <p:spPr>
          <a:xfrm>
            <a:off x="4620260" y="3278188"/>
            <a:ext cx="2951480" cy="30162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000" dirty="0">
              <a:solidFill>
                <a:srgbClr val="595959"/>
              </a:solidFill>
              <a:effectLst/>
              <a:latin typeface="Frutiger LT Pro 45 Light" panose="020B0403030504020204" pitchFamily="34" charset="77"/>
              <a:ea typeface="Frutiger LT Pro 45 Light" panose="020B0403030504020204" pitchFamily="34" charset="77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0561BA-C7F5-9336-C8B6-9C52C6E480B1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1" y="6373111"/>
            <a:ext cx="1369134" cy="38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3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1" r:id="rId3"/>
    <p:sldLayoutId id="2147483666" r:id="rId4"/>
    <p:sldLayoutId id="2147483665" r:id="rId5"/>
    <p:sldLayoutId id="2147483651" r:id="rId6"/>
    <p:sldLayoutId id="2147483660" r:id="rId7"/>
    <p:sldLayoutId id="2147483652" r:id="rId8"/>
    <p:sldLayoutId id="2147483653" r:id="rId9"/>
    <p:sldLayoutId id="2147483654" r:id="rId10"/>
    <p:sldLayoutId id="2147483658" r:id="rId11"/>
    <p:sldLayoutId id="2147483656" r:id="rId12"/>
    <p:sldLayoutId id="2147483657" r:id="rId13"/>
    <p:sldLayoutId id="2147483664" r:id="rId14"/>
    <p:sldLayoutId id="2147483663" r:id="rId15"/>
    <p:sldLayoutId id="214748365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9E82882D-F3C1-4C31-B151-940483136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020" y="1366465"/>
            <a:ext cx="5864980" cy="2852737"/>
          </a:xfrm>
        </p:spPr>
        <p:txBody>
          <a:bodyPr/>
          <a:lstStyle/>
          <a:p>
            <a:r>
              <a:rPr lang="en-US" dirty="0">
                <a:latin typeface="Frutiger LT Pro 55 Roman" panose="020B0602020204020204"/>
              </a:rPr>
              <a:t>MILESTONE-2</a:t>
            </a:r>
            <a:br>
              <a:rPr lang="en-US" dirty="0">
                <a:latin typeface="Frutiger LT Pro 55 Roman" panose="020B0602020204020204"/>
              </a:rPr>
            </a:br>
            <a:r>
              <a:rPr lang="en-US" dirty="0">
                <a:latin typeface="Frutiger LT Pro 55 Roman" panose="020B0602020204020204"/>
              </a:rPr>
              <a:t>PROJECT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BDA6CA-4235-5E07-F5BD-7AFB728F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1019" y="4219202"/>
            <a:ext cx="10159889" cy="1500187"/>
          </a:xfrm>
        </p:spPr>
        <p:txBody>
          <a:bodyPr/>
          <a:lstStyle/>
          <a:p>
            <a:r>
              <a:rPr lang="en-US" b="1" dirty="0"/>
              <a:t>End-to-End CI/CD Pipeline on AWS Using Jenkins, GitHub, Maven, Docker, ECR, and Kubernetes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F25F5-DCC2-13EB-830E-D24743113FF5}"/>
              </a:ext>
            </a:extLst>
          </p:cNvPr>
          <p:cNvSpPr txBox="1"/>
          <p:nvPr/>
        </p:nvSpPr>
        <p:spPr>
          <a:xfrm>
            <a:off x="231018" y="5719389"/>
            <a:ext cx="336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01 JULY 2025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216675-CD71-82D3-04CA-DB0244F25086}"/>
              </a:ext>
            </a:extLst>
          </p:cNvPr>
          <p:cNvSpPr txBox="1"/>
          <p:nvPr/>
        </p:nvSpPr>
        <p:spPr>
          <a:xfrm>
            <a:off x="231017" y="5168369"/>
            <a:ext cx="2560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HARIRAM S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PS.NO: 10835505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37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87FD8E-5B20-B1F6-D39B-013B88F0A2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DD25B-9751-CB57-9998-ABE16FD3473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end-to-end CI/CD pipeline in AWS platform using Jenkins as the orchestration tool, GitHub as scm, maven as the build tool, deploy in a docker instance and create a docker image, store the docker image in ECR, Kubernetes deployment using ECR image. Build sample java web app using maven.</a:t>
            </a:r>
          </a:p>
        </p:txBody>
      </p:sp>
    </p:spTree>
    <p:extLst>
      <p:ext uri="{BB962C8B-B14F-4D97-AF65-F5344CB8AC3E}">
        <p14:creationId xmlns:p14="http://schemas.microsoft.com/office/powerpoint/2010/main" val="2652931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B53F638-6883-9C90-A8B8-3D52665A4D3F}"/>
              </a:ext>
            </a:extLst>
          </p:cNvPr>
          <p:cNvSpPr/>
          <p:nvPr/>
        </p:nvSpPr>
        <p:spPr>
          <a:xfrm>
            <a:off x="1213656" y="3898673"/>
            <a:ext cx="1778923" cy="9587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             GitHub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595A58-3839-5468-05B8-5C5EF5878430}"/>
              </a:ext>
            </a:extLst>
          </p:cNvPr>
          <p:cNvSpPr/>
          <p:nvPr/>
        </p:nvSpPr>
        <p:spPr>
          <a:xfrm>
            <a:off x="1354974" y="5450383"/>
            <a:ext cx="1213658" cy="5320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Dev-server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5BE8E5-15FC-1095-1D13-7C380492AF79}"/>
              </a:ext>
            </a:extLst>
          </p:cNvPr>
          <p:cNvSpPr/>
          <p:nvPr/>
        </p:nvSpPr>
        <p:spPr>
          <a:xfrm>
            <a:off x="1101437" y="1983973"/>
            <a:ext cx="2032460" cy="11499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2"/>
              </a:solidFill>
            </a:endParaRPr>
          </a:p>
        </p:txBody>
      </p:sp>
      <p:pic>
        <p:nvPicPr>
          <p:cNvPr id="1028" name="Picture 4" descr="Jenkins is Getting Old. Jenkins has become a victim of its ...">
            <a:extLst>
              <a:ext uri="{FF2B5EF4-FFF2-40B4-BE49-F238E27FC236}">
                <a16:creationId xmlns:a16="http://schemas.microsoft.com/office/drawing/2014/main" id="{789395E9-D0CB-D72E-6B4F-80C725F8D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708" y="2024151"/>
            <a:ext cx="1109749" cy="1109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84F275F-0E2C-C3E3-6862-744174859E49}"/>
              </a:ext>
            </a:extLst>
          </p:cNvPr>
          <p:cNvSpPr/>
          <p:nvPr/>
        </p:nvSpPr>
        <p:spPr>
          <a:xfrm>
            <a:off x="4898967" y="1959033"/>
            <a:ext cx="2150226" cy="12231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F3112C-279B-092E-F522-5AF8C2C00828}"/>
              </a:ext>
            </a:extLst>
          </p:cNvPr>
          <p:cNvSpPr/>
          <p:nvPr/>
        </p:nvSpPr>
        <p:spPr>
          <a:xfrm>
            <a:off x="8722044" y="3539230"/>
            <a:ext cx="2170400" cy="87205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                EKS-server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C0F5294-C52F-520E-4FB5-FB2CB63BE3F2}"/>
              </a:ext>
            </a:extLst>
          </p:cNvPr>
          <p:cNvSpPr/>
          <p:nvPr/>
        </p:nvSpPr>
        <p:spPr>
          <a:xfrm>
            <a:off x="8406546" y="1914792"/>
            <a:ext cx="2535382" cy="130509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30" name="Picture 6" descr="docker - Official Image | Docker Hub">
            <a:extLst>
              <a:ext uri="{FF2B5EF4-FFF2-40B4-BE49-F238E27FC236}">
                <a16:creationId xmlns:a16="http://schemas.microsoft.com/office/drawing/2014/main" id="{2FB992A3-7ED8-E61B-08A8-3379D888D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198" y="1959032"/>
            <a:ext cx="1369763" cy="1223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ithub Logo - Free social media icons">
            <a:extLst>
              <a:ext uri="{FF2B5EF4-FFF2-40B4-BE49-F238E27FC236}">
                <a16:creationId xmlns:a16="http://schemas.microsoft.com/office/drawing/2014/main" id="{7F1A6DEE-E733-4C98-0D01-66EC9251F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391" y="4061005"/>
            <a:ext cx="617445" cy="617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AWS Cost best practices for EKS">
            <a:extLst>
              <a:ext uri="{FF2B5EF4-FFF2-40B4-BE49-F238E27FC236}">
                <a16:creationId xmlns:a16="http://schemas.microsoft.com/office/drawing/2014/main" id="{F4369C12-845B-1735-24EB-B28A0C16A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3870" y="5183936"/>
            <a:ext cx="532894" cy="532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Detecting vulnerabilities in container images using Amazon ECR | Wazuh">
            <a:extLst>
              <a:ext uri="{FF2B5EF4-FFF2-40B4-BE49-F238E27FC236}">
                <a16:creationId xmlns:a16="http://schemas.microsoft.com/office/drawing/2014/main" id="{39F476E7-12E6-42CB-BAC5-8FA96D35D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0643" y="1978744"/>
            <a:ext cx="1247188" cy="1177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333126A-99F2-C33A-582A-BC69981F31D5}"/>
              </a:ext>
            </a:extLst>
          </p:cNvPr>
          <p:cNvSpPr/>
          <p:nvPr/>
        </p:nvSpPr>
        <p:spPr>
          <a:xfrm>
            <a:off x="8836429" y="4894580"/>
            <a:ext cx="2402375" cy="120835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  <a:r>
              <a:rPr lang="en-US" dirty="0">
                <a:solidFill>
                  <a:schemeClr val="tx2"/>
                </a:solidFill>
              </a:rPr>
              <a:t>Cluster</a:t>
            </a:r>
            <a:endParaRPr lang="en-IN" dirty="0"/>
          </a:p>
        </p:txBody>
      </p:sp>
      <p:pic>
        <p:nvPicPr>
          <p:cNvPr id="1040" name="Picture 16">
            <a:extLst>
              <a:ext uri="{FF2B5EF4-FFF2-40B4-BE49-F238E27FC236}">
                <a16:creationId xmlns:a16="http://schemas.microsoft.com/office/drawing/2014/main" id="{036E64B8-B9EF-132C-DD7F-13C1F2F38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6429" y="3643177"/>
            <a:ext cx="714883" cy="695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AACA4F0-06ED-040E-59FD-89285410733A}"/>
              </a:ext>
            </a:extLst>
          </p:cNvPr>
          <p:cNvSpPr txBox="1"/>
          <p:nvPr/>
        </p:nvSpPr>
        <p:spPr>
          <a:xfrm>
            <a:off x="1597885" y="205439"/>
            <a:ext cx="8752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28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8AA4B7-83F1-D4EF-1CE9-761E6B071677}"/>
              </a:ext>
            </a:extLst>
          </p:cNvPr>
          <p:cNvCxnSpPr>
            <a:stCxn id="6" idx="0"/>
          </p:cNvCxnSpPr>
          <p:nvPr/>
        </p:nvCxnSpPr>
        <p:spPr>
          <a:xfrm flipV="1">
            <a:off x="1961803" y="4857409"/>
            <a:ext cx="0" cy="5929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A74E9B-6930-89A5-2776-1C8D80E38ADC}"/>
              </a:ext>
            </a:extLst>
          </p:cNvPr>
          <p:cNvCxnSpPr>
            <a:cxnSpLocks/>
          </p:cNvCxnSpPr>
          <p:nvPr/>
        </p:nvCxnSpPr>
        <p:spPr>
          <a:xfrm flipV="1">
            <a:off x="1956261" y="3133900"/>
            <a:ext cx="0" cy="76477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E1A49F0-2ED5-A2F6-550E-DA3AD056EC4A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3133897" y="2558937"/>
            <a:ext cx="1765070" cy="116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61176D1-690D-8391-1251-05144A5CABAF}"/>
              </a:ext>
            </a:extLst>
          </p:cNvPr>
          <p:cNvCxnSpPr>
            <a:stCxn id="10" idx="3"/>
          </p:cNvCxnSpPr>
          <p:nvPr/>
        </p:nvCxnSpPr>
        <p:spPr>
          <a:xfrm>
            <a:off x="7049193" y="2570625"/>
            <a:ext cx="1357353" cy="8400"/>
          </a:xfrm>
          <a:prstGeom prst="straightConnector1">
            <a:avLst/>
          </a:prstGeom>
          <a:ln w="9525" cmpd="sng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DC031C7-76C0-2884-266E-1980137D9C78}"/>
              </a:ext>
            </a:extLst>
          </p:cNvPr>
          <p:cNvCxnSpPr>
            <a:stCxn id="12" idx="4"/>
          </p:cNvCxnSpPr>
          <p:nvPr/>
        </p:nvCxnSpPr>
        <p:spPr>
          <a:xfrm>
            <a:off x="9674237" y="3219890"/>
            <a:ext cx="0" cy="319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4CBFC12-BBC6-61E7-C4F6-3162E59052AE}"/>
              </a:ext>
            </a:extLst>
          </p:cNvPr>
          <p:cNvCxnSpPr>
            <a:stCxn id="11" idx="2"/>
          </p:cNvCxnSpPr>
          <p:nvPr/>
        </p:nvCxnSpPr>
        <p:spPr>
          <a:xfrm>
            <a:off x="9807244" y="4411289"/>
            <a:ext cx="0" cy="483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A01A1755-B585-4ECB-860F-CAB42AA511A0}"/>
              </a:ext>
            </a:extLst>
          </p:cNvPr>
          <p:cNvCxnSpPr>
            <a:cxnSpLocks/>
          </p:cNvCxnSpPr>
          <p:nvPr/>
        </p:nvCxnSpPr>
        <p:spPr>
          <a:xfrm>
            <a:off x="2811086" y="3133377"/>
            <a:ext cx="5910958" cy="521492"/>
          </a:xfrm>
          <a:prstGeom prst="bentConnector3">
            <a:avLst>
              <a:gd name="adj1" fmla="val -65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1D44F0E-259E-1D94-2AFD-DEC7C0498EE7}"/>
              </a:ext>
            </a:extLst>
          </p:cNvPr>
          <p:cNvSpPr txBox="1"/>
          <p:nvPr/>
        </p:nvSpPr>
        <p:spPr>
          <a:xfrm>
            <a:off x="5082151" y="3635553"/>
            <a:ext cx="1368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(SSH-KEY)</a:t>
            </a:r>
            <a:endParaRPr lang="en-IN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E42C6EC-E82E-3B93-9A2F-3410A742985E}"/>
              </a:ext>
            </a:extLst>
          </p:cNvPr>
          <p:cNvSpPr txBox="1"/>
          <p:nvPr/>
        </p:nvSpPr>
        <p:spPr>
          <a:xfrm>
            <a:off x="3439918" y="2236271"/>
            <a:ext cx="1368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(SSH-KEY)</a:t>
            </a:r>
            <a:endParaRPr lang="en-IN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2914FC-84AF-2465-99C7-7E9CE5757E61}"/>
              </a:ext>
            </a:extLst>
          </p:cNvPr>
          <p:cNvSpPr txBox="1"/>
          <p:nvPr/>
        </p:nvSpPr>
        <p:spPr>
          <a:xfrm>
            <a:off x="861029" y="4954139"/>
            <a:ext cx="1368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(SSH-KEY)</a:t>
            </a:r>
            <a:endParaRPr lang="en-IN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7E66D3A-D433-0C8E-8374-77732BE8F030}"/>
              </a:ext>
            </a:extLst>
          </p:cNvPr>
          <p:cNvSpPr txBox="1"/>
          <p:nvPr/>
        </p:nvSpPr>
        <p:spPr>
          <a:xfrm>
            <a:off x="779891" y="3391929"/>
            <a:ext cx="1437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(WEBHOOK)</a:t>
            </a:r>
            <a:endParaRPr lang="en-IN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0A4C801-7A91-88F4-DE8F-AE1D2D858CBE}"/>
              </a:ext>
            </a:extLst>
          </p:cNvPr>
          <p:cNvSpPr/>
          <p:nvPr/>
        </p:nvSpPr>
        <p:spPr>
          <a:xfrm>
            <a:off x="1143424" y="638703"/>
            <a:ext cx="1920241" cy="8107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               Tomcat</a:t>
            </a:r>
          </a:p>
          <a:p>
            <a:pPr algn="ctr"/>
            <a:r>
              <a:rPr lang="en-US" dirty="0">
                <a:solidFill>
                  <a:schemeClr val="tx2"/>
                </a:solidFill>
              </a:rPr>
              <a:t>              server</a:t>
            </a:r>
            <a:endParaRPr lang="en-IN" dirty="0">
              <a:solidFill>
                <a:schemeClr val="tx2"/>
              </a:solidFill>
            </a:endParaRPr>
          </a:p>
        </p:txBody>
      </p:sp>
      <p:pic>
        <p:nvPicPr>
          <p:cNvPr id="1044" name="Picture 20" descr="Apache Tomcat - Wikipedia">
            <a:extLst>
              <a:ext uri="{FF2B5EF4-FFF2-40B4-BE49-F238E27FC236}">
                <a16:creationId xmlns:a16="http://schemas.microsoft.com/office/drawing/2014/main" id="{FAC0C720-C0C5-D7FF-C1D3-E0E09E6AD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425" y="703132"/>
            <a:ext cx="863379" cy="615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1223096-983A-4E0D-B812-1AB278DE6F95}"/>
              </a:ext>
            </a:extLst>
          </p:cNvPr>
          <p:cNvCxnSpPr>
            <a:cxnSpLocks/>
            <a:stCxn id="7" idx="0"/>
            <a:endCxn id="49" idx="2"/>
          </p:cNvCxnSpPr>
          <p:nvPr/>
        </p:nvCxnSpPr>
        <p:spPr>
          <a:xfrm flipH="1" flipV="1">
            <a:off x="2103545" y="1449449"/>
            <a:ext cx="14122" cy="5345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1EB5608-ADA2-C1B9-613A-20B377C34BB7}"/>
              </a:ext>
            </a:extLst>
          </p:cNvPr>
          <p:cNvSpPr txBox="1"/>
          <p:nvPr/>
        </p:nvSpPr>
        <p:spPr>
          <a:xfrm>
            <a:off x="1008699" y="1523517"/>
            <a:ext cx="1368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(SSH-KEY)</a:t>
            </a:r>
            <a:endParaRPr lang="en-IN" sz="1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D8A6B34-EB7C-1FA5-2CCE-970552775EF5}"/>
              </a:ext>
            </a:extLst>
          </p:cNvPr>
          <p:cNvSpPr txBox="1"/>
          <p:nvPr/>
        </p:nvSpPr>
        <p:spPr>
          <a:xfrm>
            <a:off x="7159358" y="1736343"/>
            <a:ext cx="12471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push from docker to ECR</a:t>
            </a:r>
            <a:endParaRPr lang="en-IN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E3CD9C-69C3-6DC7-A803-2C924F0719C2}"/>
              </a:ext>
            </a:extLst>
          </p:cNvPr>
          <p:cNvSpPr txBox="1"/>
          <p:nvPr/>
        </p:nvSpPr>
        <p:spPr>
          <a:xfrm>
            <a:off x="9969232" y="3158802"/>
            <a:ext cx="2170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pull from ECR</a:t>
            </a:r>
            <a:endParaRPr lang="en-IN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793F9F4-A7A3-52BF-81AF-5F2E356C3EB6}"/>
              </a:ext>
            </a:extLst>
          </p:cNvPr>
          <p:cNvSpPr txBox="1"/>
          <p:nvPr/>
        </p:nvSpPr>
        <p:spPr>
          <a:xfrm>
            <a:off x="9995413" y="4493784"/>
            <a:ext cx="20746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Pods are deployed </a:t>
            </a:r>
            <a:endParaRPr lang="en-IN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E583BC-C042-8422-7C21-AAEC5D0A0AAA}"/>
              </a:ext>
            </a:extLst>
          </p:cNvPr>
          <p:cNvSpPr txBox="1"/>
          <p:nvPr/>
        </p:nvSpPr>
        <p:spPr>
          <a:xfrm>
            <a:off x="133004" y="3849725"/>
            <a:ext cx="10213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code is pushed into git repo</a:t>
            </a:r>
            <a:endParaRPr lang="en-IN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5135357-8021-3615-0DEB-B713F0C283CD}"/>
              </a:ext>
            </a:extLst>
          </p:cNvPr>
          <p:cNvSpPr txBox="1"/>
          <p:nvPr/>
        </p:nvSpPr>
        <p:spPr>
          <a:xfrm>
            <a:off x="133004" y="2024151"/>
            <a:ext cx="8582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is build using Maven</a:t>
            </a:r>
            <a:endParaRPr lang="en-IN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1453779-6984-7847-DA58-14C1CA3F7734}"/>
              </a:ext>
            </a:extLst>
          </p:cNvPr>
          <p:cNvSpPr txBox="1"/>
          <p:nvPr/>
        </p:nvSpPr>
        <p:spPr>
          <a:xfrm>
            <a:off x="63902" y="665260"/>
            <a:ext cx="10795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page displayed for test</a:t>
            </a:r>
            <a:endParaRPr lang="en-IN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F3D7EBB-38F7-593E-2B1A-146CE204757D}"/>
              </a:ext>
            </a:extLst>
          </p:cNvPr>
          <p:cNvSpPr txBox="1"/>
          <p:nvPr/>
        </p:nvSpPr>
        <p:spPr>
          <a:xfrm>
            <a:off x="4082587" y="4932751"/>
            <a:ext cx="14380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output is displayed on web in 8080 port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5" name="Picture 1024">
            <a:extLst>
              <a:ext uri="{FF2B5EF4-FFF2-40B4-BE49-F238E27FC236}">
                <a16:creationId xmlns:a16="http://schemas.microsoft.com/office/drawing/2014/main" id="{8D9E0CCD-C2DB-E81D-B8D2-174822E520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08854" y="4524258"/>
            <a:ext cx="2470590" cy="1582685"/>
          </a:xfrm>
          <a:prstGeom prst="rect">
            <a:avLst/>
          </a:prstGeom>
        </p:spPr>
      </p:pic>
      <p:sp>
        <p:nvSpPr>
          <p:cNvPr id="1029" name="Rectangle 1028">
            <a:extLst>
              <a:ext uri="{FF2B5EF4-FFF2-40B4-BE49-F238E27FC236}">
                <a16:creationId xmlns:a16="http://schemas.microsoft.com/office/drawing/2014/main" id="{F60CC007-2680-A273-5D38-FB927CEE494B}"/>
              </a:ext>
            </a:extLst>
          </p:cNvPr>
          <p:cNvSpPr/>
          <p:nvPr/>
        </p:nvSpPr>
        <p:spPr>
          <a:xfrm>
            <a:off x="5669884" y="4501520"/>
            <a:ext cx="2567065" cy="16398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2"/>
              </a:solidFill>
            </a:endParaRPr>
          </a:p>
        </p:txBody>
      </p:sp>
      <p:cxnSp>
        <p:nvCxnSpPr>
          <p:cNvPr id="1033" name="Straight Arrow Connector 1032">
            <a:extLst>
              <a:ext uri="{FF2B5EF4-FFF2-40B4-BE49-F238E27FC236}">
                <a16:creationId xmlns:a16="http://schemas.microsoft.com/office/drawing/2014/main" id="{695880F4-42F2-6CC9-472E-1042ACB03C8F}"/>
              </a:ext>
            </a:extLst>
          </p:cNvPr>
          <p:cNvCxnSpPr>
            <a:cxnSpLocks/>
            <a:stCxn id="14" idx="2"/>
          </p:cNvCxnSpPr>
          <p:nvPr/>
        </p:nvCxnSpPr>
        <p:spPr>
          <a:xfrm flipH="1" flipV="1">
            <a:off x="8218414" y="5498755"/>
            <a:ext cx="61801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508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F585B8E-356B-ECE8-5509-109D12D43065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73085" y="1662545"/>
            <a:ext cx="10248122" cy="3365278"/>
          </a:xfrm>
        </p:spPr>
        <p:txBody>
          <a:bodyPr/>
          <a:lstStyle/>
          <a:p>
            <a:pPr marL="0" indent="0">
              <a:buNone/>
            </a:pP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(Local Version Control System)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GitHub (Distributed Version Control System)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Jenkins (Continuous Integration Tool)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Maven (Build Tool)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Docker (Containerization)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Kubernetes (Container Orchestration)</a:t>
            </a:r>
          </a:p>
          <a:p>
            <a:pPr marL="1314450" lvl="3" indent="0">
              <a:buNone/>
            </a:pP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78F5D48-7A5F-06D1-12C2-C9B05042EB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3085" y="910179"/>
            <a:ext cx="9281523" cy="434975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CI/CD Pipeline Setup Approach:</a:t>
            </a:r>
          </a:p>
        </p:txBody>
      </p:sp>
    </p:spTree>
    <p:extLst>
      <p:ext uri="{BB962C8B-B14F-4D97-AF65-F5344CB8AC3E}">
        <p14:creationId xmlns:p14="http://schemas.microsoft.com/office/powerpoint/2010/main" val="2316297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19D32A-6C0C-47C5-DFDD-07C5DDBDF1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961" y="1002569"/>
            <a:ext cx="9800583" cy="434975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 CI/CD with GitHub, Jenkins, Maven &amp; Tomcat</a:t>
            </a:r>
          </a:p>
          <a:p>
            <a:pPr marL="0" indent="0">
              <a:buNone/>
            </a:pP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C25E5-D31F-B117-64FA-2DC8DD78532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005961" y="1771038"/>
            <a:ext cx="8864415" cy="3432302"/>
          </a:xfrm>
        </p:spPr>
        <p:txBody>
          <a:bodyPr>
            <a:normAutofit/>
          </a:bodyPr>
          <a:lstStyle/>
          <a:p>
            <a:pPr lvl="0"/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 &amp; Configure Jenkins</a:t>
            </a:r>
          </a:p>
          <a:p>
            <a:pPr lvl="0"/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 &amp; Configure Maven and Git</a:t>
            </a:r>
          </a:p>
          <a:p>
            <a:pPr lvl="0"/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Up Apache Tomcat Server</a:t>
            </a:r>
          </a:p>
          <a:p>
            <a:pPr lvl="0"/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Jenkins with GitHub, Maven, and Tomcat</a:t>
            </a:r>
          </a:p>
          <a:p>
            <a:pPr lvl="0"/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CI/CD Jobs in Jenkins</a:t>
            </a:r>
          </a:p>
          <a:p>
            <a:pPr marL="0" lvl="1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CI Job: Build code using Maven</a:t>
            </a:r>
          </a:p>
          <a:p>
            <a:pPr marL="0" lvl="1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CD Job: Deploy to Tomcat</a:t>
            </a:r>
          </a:p>
          <a:p>
            <a:pPr lvl="0"/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Deployment on Tomcat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0388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3A0227-A822-9520-F891-DB0EBE9D44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962" y="961005"/>
            <a:ext cx="9792271" cy="434975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 CI/CD with GitHub, Jenkins, Maven &amp; Docker</a:t>
            </a:r>
          </a:p>
          <a:p>
            <a:pPr marL="0" indent="0">
              <a:buNone/>
            </a:pP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988A4-ADC0-E63D-477D-F76F145262E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005962" y="1879103"/>
            <a:ext cx="8864415" cy="3432302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Up Docker Environment</a:t>
            </a:r>
          </a:p>
          <a:p>
            <a:pPr lvl="0"/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Docker Image and Run Container</a:t>
            </a:r>
          </a:p>
          <a:p>
            <a:pPr lvl="0"/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Docker with Jenkins</a:t>
            </a:r>
          </a:p>
          <a:p>
            <a:pPr lvl="0"/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Jenkins CI/CD Job</a:t>
            </a:r>
          </a:p>
          <a:p>
            <a:pPr marL="0" lvl="1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CI Job: Build code with Maven</a:t>
            </a:r>
          </a:p>
          <a:p>
            <a:pPr marL="0" lvl="1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CD Job: Package into Docker image and deploy to container</a:t>
            </a:r>
          </a:p>
          <a:p>
            <a:pPr marL="0" indent="0">
              <a:buNone/>
            </a:pPr>
            <a:endParaRPr lang="en-IN" b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316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C9546E3-8995-946D-D333-B4C7EE6AAE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80777" y="1035820"/>
            <a:ext cx="10545958" cy="434975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CI/CD with GitHub, Jenkins, Maven &amp; Kubernetes</a:t>
            </a:r>
          </a:p>
          <a:p>
            <a:pPr marL="0" indent="0">
              <a:buNone/>
            </a:pP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ED663-34B3-6134-0504-5202EABF1E4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080777" y="1854165"/>
            <a:ext cx="8864415" cy="3432302"/>
          </a:xfrm>
        </p:spPr>
        <p:txBody>
          <a:bodyPr>
            <a:normAutofit/>
          </a:bodyPr>
          <a:lstStyle/>
          <a:p>
            <a:pPr lvl="0"/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Up Kubernetes Cluster (e.g., EKS)</a:t>
            </a:r>
          </a:p>
          <a:p>
            <a:pPr lvl="0"/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Kubernetes Manifest Files</a:t>
            </a:r>
          </a:p>
          <a:p>
            <a:pPr marL="0" lvl="1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Deployment</a:t>
            </a:r>
          </a:p>
          <a:p>
            <a:pPr marL="0" lvl="1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Service</a:t>
            </a:r>
          </a:p>
          <a:p>
            <a:pPr marL="0" lvl="1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Pod specifications</a:t>
            </a:r>
          </a:p>
          <a:p>
            <a:pPr lvl="0"/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Jenkins CI/CD Job</a:t>
            </a:r>
          </a:p>
          <a:p>
            <a:pPr marL="0" lvl="1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CI Job: Build code with Maven</a:t>
            </a:r>
          </a:p>
          <a:p>
            <a:pPr marL="0" lvl="1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CD Job: Deploy to Kubernetes using 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kubectl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704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273EA1-C41B-F8A9-9067-811292F0FA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Final Deployment &amp; Validation</a:t>
            </a:r>
          </a:p>
          <a:p>
            <a:pPr marL="0" indent="0">
              <a:buNone/>
            </a:pP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DF76B-E89A-0603-5134-84AA620D1E4F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 lvl="0"/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 Artifacts to Kubernetes</a:t>
            </a:r>
          </a:p>
          <a:p>
            <a:pPr lvl="0"/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Docker and Kubernetes Artifacts Contain Required Code</a:t>
            </a:r>
          </a:p>
          <a:p>
            <a:pPr lvl="0"/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Trigger Jenkins Build</a:t>
            </a:r>
          </a:p>
          <a:p>
            <a:pPr lvl="0"/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Pod Creation in Kubernetes</a:t>
            </a:r>
          </a:p>
          <a:p>
            <a:pPr lvl="0"/>
            <a:r>
              <a:rPr lang="en-IN" b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Application via Kubernetes Service IP</a:t>
            </a:r>
          </a:p>
          <a:p>
            <a:pPr marL="0" lvl="1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Copy service IP</a:t>
            </a:r>
          </a:p>
          <a:p>
            <a:pPr marL="0" lvl="1" indent="0">
              <a:buNone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Paste in browser to validate output</a:t>
            </a:r>
          </a:p>
          <a:p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115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CECC60-E1AC-9A0C-7026-CB1B1E4FD1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A706B-E171-78D5-F510-056CCBF4CC6F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991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104146-7EC0-87FA-2ABB-F553BB0CA9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E03C-A687-3A11-A6BD-8EBE98AC05F2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665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84E0F-5A84-410F-F348-E46C8651A4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ADB31-B991-B76D-D197-22FA53B15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838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M">
      <a:dk1>
        <a:srgbClr val="595959"/>
      </a:dk1>
      <a:lt1>
        <a:srgbClr val="FFFFFF"/>
      </a:lt1>
      <a:dk2>
        <a:srgbClr val="000000"/>
      </a:dk2>
      <a:lt2>
        <a:srgbClr val="FFFFFF"/>
      </a:lt2>
      <a:accent1>
        <a:srgbClr val="BCD9F3"/>
      </a:accent1>
      <a:accent2>
        <a:srgbClr val="97C4EC"/>
      </a:accent2>
      <a:accent3>
        <a:srgbClr val="60A5E2"/>
      </a:accent3>
      <a:accent4>
        <a:srgbClr val="EF7C00"/>
      </a:accent4>
      <a:accent5>
        <a:srgbClr val="C8CA05"/>
      </a:accent5>
      <a:accent6>
        <a:srgbClr val="33682B"/>
      </a:accent6>
      <a:hlink>
        <a:srgbClr val="64B3E3"/>
      </a:hlink>
      <a:folHlink>
        <a:srgbClr val="004683"/>
      </a:folHlink>
    </a:clrScheme>
    <a:fontScheme name="Frutiger">
      <a:majorFont>
        <a:latin typeface="Frutiger 45 bold"/>
        <a:ea typeface=""/>
        <a:cs typeface=""/>
      </a:majorFont>
      <a:minorFont>
        <a:latin typeface="Frutiger 4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TIMindtree PowerPoint Template  -  Read-Only" id="{D2D078E9-0747-433B-9A53-87E4E1206723}" vid="{02E04BAB-B372-49B2-8DFC-CCA9479795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E668FDB297BA418F5A6539855E71B7" ma:contentTypeVersion="3" ma:contentTypeDescription="Create a new document." ma:contentTypeScope="" ma:versionID="4294c225a3417baf4b70885d580e1778">
  <xsd:schema xmlns:xsd="http://www.w3.org/2001/XMLSchema" xmlns:xs="http://www.w3.org/2001/XMLSchema" xmlns:p="http://schemas.microsoft.com/office/2006/metadata/properties" xmlns:ns2="88563cb8-e9e3-40d4-951f-126d0c29510d" xmlns:ns3="dc0ddbac-d92f-4135-ae82-46af643a22eb" targetNamespace="http://schemas.microsoft.com/office/2006/metadata/properties" ma:root="true" ma:fieldsID="4f00704ce9a2416b2cdaa5d136de8e77" ns2:_="" ns3:_="">
    <xsd:import namespace="88563cb8-e9e3-40d4-951f-126d0c29510d"/>
    <xsd:import namespace="dc0ddbac-d92f-4135-ae82-46af643a22e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563cb8-e9e3-40d4-951f-126d0c29510d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0ddbac-d92f-4135-ae82-46af643a22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88563cb8-e9e3-40d4-951f-126d0c29510d">QUMXH5H4ZXKS-875811578-11</_dlc_DocId>
    <_dlc_DocIdUrl xmlns="88563cb8-e9e3-40d4-951f-126d0c29510d">
      <Url>https://mindtreeonline.sharepoint.com/sites/LTIMindtree-Corporate-Templates/_layouts/15/DocIdRedir.aspx?ID=QUMXH5H4ZXKS-875811578-11</Url>
      <Description>QUMXH5H4ZXKS-875811578-11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BACBCD0B-8E49-473F-9B37-931C1D238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563cb8-e9e3-40d4-951f-126d0c29510d"/>
    <ds:schemaRef ds:uri="dc0ddbac-d92f-4135-ae82-46af643a22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55CB52-33A3-4B47-8C1D-0EE24875E3DC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88563cb8-e9e3-40d4-951f-126d0c29510d"/>
    <ds:schemaRef ds:uri="dc0ddbac-d92f-4135-ae82-46af643a22eb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998B09E-68DE-4B62-A34E-BB5B738ECC36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5C474493-4661-4534-A819-8424B96FDD6F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LTIMindtree PowerPoint Template</Template>
  <TotalTime>503</TotalTime>
  <Words>430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Frutiger 45 bold</vt:lpstr>
      <vt:lpstr>Frutiger 45 Light</vt:lpstr>
      <vt:lpstr>Frutiger LT Pro 45 Light</vt:lpstr>
      <vt:lpstr>Frutiger LT Pro 55 Roman</vt:lpstr>
      <vt:lpstr>Symbol</vt:lpstr>
      <vt:lpstr>Times New Roman</vt:lpstr>
      <vt:lpstr>Wingdings</vt:lpstr>
      <vt:lpstr>Office Theme</vt:lpstr>
      <vt:lpstr>MILESTONE-2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Hariram</dc:creator>
  <cp:lastModifiedBy>Hariram</cp:lastModifiedBy>
  <cp:revision>2</cp:revision>
  <dcterms:created xsi:type="dcterms:W3CDTF">2025-06-30T08:43:34Z</dcterms:created>
  <dcterms:modified xsi:type="dcterms:W3CDTF">2025-06-30T17:07:03Z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0x0101001EE668FDB297BA418F5A6539855E71B7</vt:lpwstr>
  </property>
  <property fmtid="{D5CDD505-2E9C-101B-9397-08002B2CF9AE}" pid="3" name="_dlc_DocIdItemGuid">
    <vt:lpwstr>36da67c7-b504-4aea-865b-0e87cedc899d</vt:lpwstr>
  </property>
</Properties>
</file>